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147472924" r:id="rId39"/>
    <p:sldId id="2147472925" r:id="rId40"/>
    <p:sldId id="2147472926" r:id="rId41"/>
    <p:sldId id="2147472927" r:id="rId42"/>
    <p:sldId id="2147472928" r:id="rId43"/>
    <p:sldId id="2147472929" r:id="rId44"/>
    <p:sldId id="2147472930" r:id="rId45"/>
    <p:sldId id="2147472931" r:id="rId46"/>
    <p:sldId id="2147472932" r:id="rId47"/>
    <p:sldId id="2147472933" r:id="rId48"/>
    <p:sldId id="2147472934" r:id="rId49"/>
    <p:sldId id="2147472935" r:id="rId50"/>
    <p:sldId id="2147472936" r:id="rId51"/>
    <p:sldId id="2147472937" r:id="rId52"/>
    <p:sldId id="2147472938" r:id="rId53"/>
    <p:sldId id="2147472939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FB999B-0601-433E-8F51-5485D2949509}" v="8" dt="2026-05-14T22:01:13.8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microsoft.com/office/2016/11/relationships/changesInfo" Target="changesInfos/changesInfo1.xml"/><Relationship Id="rId38" Type="http://schemas.microsoft.com/office/2015/10/relationships/revisionInfo" Target="revisionInfo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musalami, Abdullah (Abdullah.Almusalami@yokogawa.com)" userId="9700a676-caa0-42a8-9b4c-caaca9ccf7b0" providerId="ADAL" clId="{7C847672-1EA5-427A-9280-AA374C47944B}"/>
    <pc:docChg chg="custSel modSld">
      <pc:chgData name="Almusalami, Abdullah (Abdullah.Almusalami@yokogawa.com)" userId="9700a676-caa0-42a8-9b4c-caaca9ccf7b0" providerId="ADAL" clId="{7C847672-1EA5-427A-9280-AA374C47944B}" dt="2026-05-14T22:01:17.743" v="8" actId="478"/>
      <pc:docMkLst>
        <pc:docMk/>
      </pc:docMkLst>
      <pc:sldChg chg="addSp delSp modSp modAnim">
        <pc:chgData name="Almusalami, Abdullah (Abdullah.Almusalami@yokogawa.com)" userId="9700a676-caa0-42a8-9b4c-caaca9ccf7b0" providerId="ADAL" clId="{7C847672-1EA5-427A-9280-AA374C47944B}" dt="2026-05-14T22:01:13.858" v="7" actId="1036"/>
        <pc:sldMkLst>
          <pc:docMk/>
          <pc:sldMk cId="3748806513" sldId="2147472905"/>
        </pc:sldMkLst>
        <pc:picChg chg="add del">
          <ac:chgData name="Almusalami, Abdullah (Abdullah.Almusalami@yokogawa.com)" userId="9700a676-caa0-42a8-9b4c-caaca9ccf7b0" providerId="ADAL" clId="{7C847672-1EA5-427A-9280-AA374C47944B}" dt="2026-05-14T22:01:12.003" v="2" actId="478"/>
          <ac:picMkLst>
            <pc:docMk/>
            <pc:sldMk cId="3748806513" sldId="2147472905"/>
            <ac:picMk id="2050" creationId="{7CC53E5F-7D57-348C-20C6-77B20BA644AA}"/>
          </ac:picMkLst>
        </pc:picChg>
        <pc:picChg chg="add del mod">
          <ac:chgData name="Almusalami, Abdullah (Abdullah.Almusalami@yokogawa.com)" userId="9700a676-caa0-42a8-9b4c-caaca9ccf7b0" providerId="ADAL" clId="{7C847672-1EA5-427A-9280-AA374C47944B}" dt="2026-05-14T22:01:13.858" v="7" actId="1036"/>
          <ac:picMkLst>
            <pc:docMk/>
            <pc:sldMk cId="3748806513" sldId="2147472905"/>
            <ac:picMk id="2052" creationId="{84ACD06D-4EED-A524-F63B-07122A260BB0}"/>
          </ac:picMkLst>
        </pc:picChg>
      </pc:sldChg>
      <pc:sldChg chg="delSp mod delAnim">
        <pc:chgData name="Almusalami, Abdullah (Abdullah.Almusalami@yokogawa.com)" userId="9700a676-caa0-42a8-9b4c-caaca9ccf7b0" providerId="ADAL" clId="{7C847672-1EA5-427A-9280-AA374C47944B}" dt="2026-05-14T22:01:17.743" v="8" actId="478"/>
        <pc:sldMkLst>
          <pc:docMk/>
          <pc:sldMk cId="1361223821" sldId="2147472910"/>
        </pc:sldMkLst>
        <pc:picChg chg="del">
          <ac:chgData name="Almusalami, Abdullah (Abdullah.Almusalami@yokogawa.com)" userId="9700a676-caa0-42a8-9b4c-caaca9ccf7b0" providerId="ADAL" clId="{7C847672-1EA5-427A-9280-AA374C47944B}" dt="2026-05-14T22:01:17.743" v="8" actId="478"/>
          <ac:picMkLst>
            <pc:docMk/>
            <pc:sldMk cId="1361223821" sldId="2147472910"/>
            <ac:picMk id="5" creationId="{FA653B45-FAEA-9B1F-09A8-34D0900FD192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F37BB9-9B74-4052-8ADF-9A8C51D8118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969B52-77E2-47C6-B065-3220780C5C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4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5F611-2DA4-9687-771B-B28D7DBC45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300539-3B92-0903-3CE9-DEF3CBFFF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53CB0-92AA-81DE-0674-CB48F42F7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F01A-165A-439D-A9A5-A01BF7D529F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ABF5-BE7C-DE70-B7E0-E28120A50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7D251-CDCE-E9FD-A7FD-936322FCA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F54AF-2578-4006-BC40-F2AE4C6EF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921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9B788-4447-D04E-AC34-A0B40B11B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CD85C-9643-E71B-66FD-405F2F10D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42E6F-6A3A-8095-7002-EC814BA37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F01A-165A-439D-A9A5-A01BF7D529F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CE6763-1FB1-F908-E619-6E8CA2F47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879A3C-88E3-1B13-443E-A4E72A763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F54AF-2578-4006-BC40-F2AE4C6EF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192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CEA98-F48D-6015-30DB-E69F595CB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F08D1-B5B9-2A8B-107F-EBF4D0D36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4D0C8-0179-0FAC-932B-474592324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F01A-165A-439D-A9A5-A01BF7D529F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5614B-BBE5-9911-8CB1-42DEB47E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770C5-1957-5BDB-3CEA-92B1BB7A7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F54AF-2578-4006-BC40-F2AE4C6EF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7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2498B-76E4-F734-62FA-AB4928749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3D160-D179-C53B-E595-3B4C52546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0EF205-4955-7C61-1FE1-B5C124068E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CFB99-7DBE-D767-7333-67A09359B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F01A-165A-439D-A9A5-A01BF7D529F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D0C33-DC57-585B-1EA5-68F70BE30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7802F7-94AF-F881-21E8-57E96B9C5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F54AF-2578-4006-BC40-F2AE4C6EF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889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A1938-D62A-DF9B-4257-4E19AAC20F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0E3FE-A356-6625-E508-BC44A411F8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AC6EB-A45B-630F-96A3-CDE890E6E6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9BE19D-1E6F-02DC-A99D-FF5D36D726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B79E0A-4B0D-8DBE-858B-5228870C19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DA1F8F-BE8D-A474-28EC-F3639D542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F01A-165A-439D-A9A5-A01BF7D529F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20AF3C-920F-88C6-5DF7-670C6AFB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8B328C-7951-5336-45B0-F9E4881DD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F54AF-2578-4006-BC40-F2AE4C6EF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43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57B1-2ED0-ADDD-3287-78AAA089E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E58CBB-65D0-8EBA-F989-A72B366CA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F01A-165A-439D-A9A5-A01BF7D529F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90AD13-A215-D14A-EA47-F4F306AFE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BCC6E-33B2-A4FF-C867-B99D39956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F54AF-2578-4006-BC40-F2AE4C6EF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187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0ABD05-EF8E-988B-C7CA-68DD7CEDE1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F01A-165A-439D-A9A5-A01BF7D529F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0DD5AB-ECF0-781E-0DC3-5D2EB2D32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8376E-5A0E-2F0C-37B0-D24465D6D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F54AF-2578-4006-BC40-F2AE4C6EF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818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D5EFB-B83C-8485-115F-DDF44E600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B0E77-4AA5-54D2-DE43-5AAD27CD1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C4314-178E-B236-F608-24D741E65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FE69A9-16A9-12BA-5AC4-22A00DC6A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F01A-165A-439D-A9A5-A01BF7D529F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2421D0-B10B-9F41-40B3-1B0641C30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488E95-9EEE-EE1B-7698-53134CD7E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F54AF-2578-4006-BC40-F2AE4C6EF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29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44129-27DC-93D2-86F4-C8F50647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ED3D0A-5CCC-FA08-80A1-57A7848859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66E75B-31A9-EE14-7B7F-F6EA9CDD92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4EC90-03A1-771C-6775-B9AEE4147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F01A-165A-439D-A9A5-A01BF7D529F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6F586A-21D6-8BBE-CF52-393DB2A1E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1ED1C7-445D-20AD-C156-A9A45CAD4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F54AF-2578-4006-BC40-F2AE4C6EF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92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33BEE-6740-68EC-3341-1D31D2589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172796-A5C6-F325-1424-E2CD64C7D0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D58A0-1331-FC1A-3A59-1C0D4CF97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F01A-165A-439D-A9A5-A01BF7D529F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6494B-A2BA-2ED9-2BEA-2EA1FCC3E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7BC5B-0F28-F175-9A30-291074BAA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F54AF-2578-4006-BC40-F2AE4C6EF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25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9F003A-A224-4E6C-D760-239ACF020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B3ECAD-2462-681B-5C3B-CB1B6D1CE8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F99FF-D112-3FE2-CCA7-36D65C778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7F01A-165A-439D-A9A5-A01BF7D529F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ECC5C-E700-BFE5-35A3-0057EECE8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F4081-4984-957B-8FE8-BE3BE6A2D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5F54AF-2578-4006-BC40-F2AE4C6EF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898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F8536ED1-455B-4DD1-AC0E-800FB7E4ADA4}"/>
              </a:ext>
            </a:extLst>
          </p:cNvPr>
          <p:cNvSpPr/>
          <p:nvPr userDrawn="1"/>
        </p:nvSpPr>
        <p:spPr>
          <a:xfrm>
            <a:off x="0" y="0"/>
            <a:ext cx="3049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図 13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497ED59C-FE6C-4EF1-A50C-F72C2D9F39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102" y="410845"/>
            <a:ext cx="2152996" cy="605348"/>
          </a:xfrm>
          <a:prstGeom prst="rect">
            <a:avLst/>
          </a:prstGeom>
        </p:spPr>
      </p:pic>
      <p:pic>
        <p:nvPicPr>
          <p:cNvPr id="5" name="図 4" descr="モニター画面に映る文字&#10;&#10;自動的に生成された説明">
            <a:extLst>
              <a:ext uri="{FF2B5EF4-FFF2-40B4-BE49-F238E27FC236}">
                <a16:creationId xmlns:a16="http://schemas.microsoft.com/office/drawing/2014/main" id="{41E5647C-F0B0-41C0-BC1A-6102B76B0C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49200" y="1758333"/>
            <a:ext cx="2326656" cy="3314089"/>
          </a:xfrm>
          <a:prstGeom prst="rect">
            <a:avLst/>
          </a:prstGeom>
        </p:spPr>
      </p:pic>
      <p:sp>
        <p:nvSpPr>
          <p:cNvPr id="7" name="タイトル 1">
            <a:extLst>
              <a:ext uri="{FF2B5EF4-FFF2-40B4-BE49-F238E27FC236}">
                <a16:creationId xmlns:a16="http://schemas.microsoft.com/office/drawing/2014/main" id="{A742C218-90A3-40E1-BF8B-7F384AAFC8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64402" y="2536265"/>
            <a:ext cx="6512266" cy="1772496"/>
          </a:xfrm>
        </p:spPr>
        <p:txBody>
          <a:bodyPr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kumimoji="1" lang="en-US" altLang="ja-JP"/>
              <a:t>Presentation title here</a:t>
            </a:r>
            <a:endParaRPr kumimoji="1" lang="ja-JP" altLang="en-US"/>
          </a:p>
        </p:txBody>
      </p:sp>
      <p:sp>
        <p:nvSpPr>
          <p:cNvPr id="8" name="テキスト プレースホルダー 10">
            <a:extLst>
              <a:ext uri="{FF2B5EF4-FFF2-40B4-BE49-F238E27FC236}">
                <a16:creationId xmlns:a16="http://schemas.microsoft.com/office/drawing/2014/main" id="{714ACDEC-7535-4FC9-8AE9-A88C40E3C9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64402" y="4681725"/>
            <a:ext cx="5307863" cy="41607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Presenter Name</a:t>
            </a:r>
            <a:endParaRPr kumimoji="1" lang="ja-JP" altLang="en-US"/>
          </a:p>
        </p:txBody>
      </p:sp>
      <p:sp>
        <p:nvSpPr>
          <p:cNvPr id="9" name="テキスト プレースホルダー 10">
            <a:extLst>
              <a:ext uri="{FF2B5EF4-FFF2-40B4-BE49-F238E27FC236}">
                <a16:creationId xmlns:a16="http://schemas.microsoft.com/office/drawing/2014/main" id="{9E33A0B0-15A6-4DC2-965D-6436364BE5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64402" y="5093413"/>
            <a:ext cx="5307863" cy="63030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FontTx/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Profile</a:t>
            </a:r>
          </a:p>
          <a:p>
            <a:pPr lvl="0"/>
            <a:r>
              <a:rPr kumimoji="1" lang="en-US" altLang="ja-JP"/>
              <a:t>Profile</a:t>
            </a:r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1CD9B5D1-9BD4-49F9-8342-A74301BA0E5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64403" y="5787336"/>
            <a:ext cx="3867622" cy="267216"/>
          </a:xfrm>
        </p:spPr>
        <p:txBody>
          <a:bodyPr anchor="t">
            <a:noAutofit/>
          </a:bodyPr>
          <a:lstStyle>
            <a:lvl1pPr marL="0" indent="0">
              <a:buFontTx/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ja-JP"/>
              <a:t>Month DD, YYYY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622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CE10F98-86EA-4B20-9945-36A4CD697905}"/>
              </a:ext>
            </a:extLst>
          </p:cNvPr>
          <p:cNvSpPr/>
          <p:nvPr userDrawn="1"/>
        </p:nvSpPr>
        <p:spPr>
          <a:xfrm>
            <a:off x="0" y="0"/>
            <a:ext cx="898970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 descr="モニター画面に映る文字&#10;&#10;自動的に生成された説明">
            <a:extLst>
              <a:ext uri="{FF2B5EF4-FFF2-40B4-BE49-F238E27FC236}">
                <a16:creationId xmlns:a16="http://schemas.microsoft.com/office/drawing/2014/main" id="{691DA4E5-83DA-450F-8AF0-CE07E91FE8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86509" y="1758333"/>
            <a:ext cx="2326656" cy="3314089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5E39DC20-4B9B-4997-BB6B-5F5B2B775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178" y="907142"/>
            <a:ext cx="8060367" cy="580013"/>
          </a:xfrm>
        </p:spPr>
        <p:txBody>
          <a:bodyPr anchor="ctr">
            <a:normAutofit/>
          </a:bodyPr>
          <a:lstStyle>
            <a:lvl1pPr>
              <a:defRPr sz="2800" b="1"/>
            </a:lvl1pPr>
          </a:lstStyle>
          <a:p>
            <a:r>
              <a:rPr kumimoji="1" lang="en-US" altLang="ja-JP"/>
              <a:t>Agenda Here</a:t>
            </a:r>
            <a:endParaRPr kumimoji="1" lang="ja-JP" altLang="en-US"/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D5F35308-28C9-4A26-A6C4-8AD672A2A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84EAAFE-CFE5-40AD-8E95-5BFF290DC5C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30CAA6C8-1809-428C-A024-8292BCA994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35" y="6434251"/>
            <a:ext cx="3247649" cy="229396"/>
          </a:xfrm>
          <a:prstGeom prst="rect">
            <a:avLst/>
          </a:prstGeom>
        </p:spPr>
      </p:pic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C44C11-53F0-4355-98C4-EB8B73C798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3191" y="1758950"/>
            <a:ext cx="8018847" cy="4140200"/>
          </a:xfrm>
        </p:spPr>
        <p:txBody>
          <a:bodyPr/>
          <a:lstStyle>
            <a:lvl1pPr marL="514350" indent="-514350">
              <a:buFont typeface="+mj-lt"/>
              <a:buAutoNum type="arabicPeriod"/>
              <a:defRPr/>
            </a:lvl1pPr>
          </a:lstStyle>
          <a:p>
            <a:pPr lvl="0"/>
            <a:r>
              <a:rPr lang="en-US" altLang="ja-JP">
                <a:latin typeface="+mn-lt"/>
              </a:rPr>
              <a:t>High Lighted Contents</a:t>
            </a:r>
          </a:p>
          <a:p>
            <a:pPr lvl="0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99973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_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CE10F98-86EA-4B20-9945-36A4CD697905}"/>
              </a:ext>
            </a:extLst>
          </p:cNvPr>
          <p:cNvSpPr/>
          <p:nvPr userDrawn="1"/>
        </p:nvSpPr>
        <p:spPr>
          <a:xfrm>
            <a:off x="0" y="0"/>
            <a:ext cx="898970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9" name="図 8" descr="モニター画面に映る文字&#10;&#10;自動的に生成された説明">
            <a:extLst>
              <a:ext uri="{FF2B5EF4-FFF2-40B4-BE49-F238E27FC236}">
                <a16:creationId xmlns:a16="http://schemas.microsoft.com/office/drawing/2014/main" id="{691DA4E5-83DA-450F-8AF0-CE07E91FE86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86509" y="1758333"/>
            <a:ext cx="2326656" cy="3314089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5E39DC20-4B9B-4997-BB6B-5F5B2B775EF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739" y="3157972"/>
            <a:ext cx="8038661" cy="539820"/>
          </a:xfrm>
        </p:spPr>
        <p:txBody>
          <a:bodyPr anchor="ctr">
            <a:normAutofit/>
          </a:bodyPr>
          <a:lstStyle>
            <a:lvl1pPr>
              <a:defRPr sz="3200" b="1"/>
            </a:lvl1pPr>
          </a:lstStyle>
          <a:p>
            <a:r>
              <a:rPr kumimoji="1" lang="en-US" altLang="ja-JP"/>
              <a:t>Separator</a:t>
            </a:r>
            <a:r>
              <a:rPr kumimoji="1" lang="ja-JP" altLang="en-US"/>
              <a:t> </a:t>
            </a:r>
            <a:r>
              <a:rPr kumimoji="1" lang="en-US" altLang="ja-JP"/>
              <a:t>Title Here</a:t>
            </a:r>
            <a:endParaRPr kumimoji="1" lang="ja-JP" altLang="en-US"/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D5F35308-28C9-4A26-A6C4-8AD672A2A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84EAAFE-CFE5-40AD-8E95-5BFF290DC5C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30CAA6C8-1809-428C-A024-8292BCA9949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35" y="6434251"/>
            <a:ext cx="3247649" cy="229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4445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A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/>
          <p:cNvSpPr/>
          <p:nvPr userDrawn="1"/>
        </p:nvSpPr>
        <p:spPr>
          <a:xfrm>
            <a:off x="0" y="1"/>
            <a:ext cx="12192000" cy="739587"/>
          </a:xfrm>
          <a:prstGeom prst="rect">
            <a:avLst/>
          </a:prstGeom>
          <a:solidFill>
            <a:srgbClr val="0031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  <p:cxnSp>
        <p:nvCxnSpPr>
          <p:cNvPr id="10" name="直線コネクタ 9"/>
          <p:cNvCxnSpPr/>
          <p:nvPr userDrawn="1"/>
        </p:nvCxnSpPr>
        <p:spPr>
          <a:xfrm>
            <a:off x="0" y="739588"/>
            <a:ext cx="12192000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図 8" descr="モニター画面に映る文字&#10;&#10;自動的に生成された説明">
            <a:extLst>
              <a:ext uri="{FF2B5EF4-FFF2-40B4-BE49-F238E27FC236}">
                <a16:creationId xmlns:a16="http://schemas.microsoft.com/office/drawing/2014/main" id="{0243535F-2BA0-4B7B-A8D1-36DCA49955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42531"/>
            <a:ext cx="419725" cy="654524"/>
          </a:xfrm>
          <a:prstGeom prst="rect">
            <a:avLst/>
          </a:prstGeom>
        </p:spPr>
      </p:pic>
      <p:sp>
        <p:nvSpPr>
          <p:cNvPr id="11" name="タイトル 11">
            <a:extLst>
              <a:ext uri="{FF2B5EF4-FFF2-40B4-BE49-F238E27FC236}">
                <a16:creationId xmlns:a16="http://schemas.microsoft.com/office/drawing/2014/main" id="{9C1AB69D-CD22-4C7F-9CE8-A7C4883539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7055" y="124922"/>
            <a:ext cx="11400125" cy="518094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kumimoji="1" lang="en-US" altLang="ja-JP"/>
              <a:t>Page Title 28pt. </a:t>
            </a:r>
            <a:r>
              <a:rPr kumimoji="1" lang="ja-JP" altLang="en-US"/>
              <a:t>（</a:t>
            </a:r>
            <a:r>
              <a:rPr kumimoji="1" lang="en-US" altLang="ja-JP"/>
              <a:t>1</a:t>
            </a:r>
            <a:r>
              <a:rPr kumimoji="1" lang="ja-JP" altLang="en-US"/>
              <a:t>行 </a:t>
            </a:r>
            <a:r>
              <a:rPr kumimoji="1" lang="en-US" altLang="ja-JP"/>
              <a:t>/ 1 line</a:t>
            </a:r>
            <a:r>
              <a:rPr kumimoji="1" lang="ja-JP" altLang="en-US"/>
              <a:t>）</a:t>
            </a:r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BA90F9EB-248E-4805-A823-687DB114B9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535" y="6434251"/>
            <a:ext cx="3247649" cy="229396"/>
          </a:xfrm>
          <a:prstGeom prst="rect">
            <a:avLst/>
          </a:prstGeom>
        </p:spPr>
      </p:pic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929C8B6-5F8C-4BA9-A9FD-D528DB075A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4EAAFE-CFE5-40AD-8E95-5BFF290DC5CF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5776613-6F43-460D-B84E-59CDDE4593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7055" y="1071367"/>
            <a:ext cx="11341888" cy="480131"/>
          </a:xfrm>
        </p:spPr>
        <p:txBody>
          <a:bodyPr wrap="square">
            <a:spAutoFit/>
          </a:bodyPr>
          <a:lstStyle>
            <a:lvl1pPr marL="0" indent="0">
              <a:buClr>
                <a:schemeClr val="bg2"/>
              </a:buClr>
              <a:buFontTx/>
              <a:buNone/>
              <a:defRPr sz="2800" b="1">
                <a:solidFill>
                  <a:schemeClr val="accent1"/>
                </a:solidFill>
              </a:defRPr>
            </a:lvl1pPr>
            <a:lvl2pPr marL="341313" indent="0">
              <a:buFontTx/>
              <a:buNone/>
              <a:defRPr sz="16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kumimoji="1" lang="en-US" altLang="ja-JP"/>
              <a:t>Main text 28pt.</a:t>
            </a:r>
            <a:r>
              <a:rPr kumimoji="1" lang="ja-JP" altLang="en-US"/>
              <a:t>（テキストを挿入）</a:t>
            </a:r>
          </a:p>
        </p:txBody>
      </p:sp>
      <p:sp>
        <p:nvSpPr>
          <p:cNvPr id="15" name="コンテンツ プレースホルダー 6">
            <a:extLst>
              <a:ext uri="{FF2B5EF4-FFF2-40B4-BE49-F238E27FC236}">
                <a16:creationId xmlns:a16="http://schemas.microsoft.com/office/drawing/2014/main" id="{772436EF-038D-4313-AC03-5FFFE916614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24571" y="2181070"/>
            <a:ext cx="11149687" cy="378793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latin typeface="+mn-ea"/>
                <a:ea typeface="+mn-ea"/>
              </a:defRPr>
            </a:lvl1pPr>
            <a:lvl2pPr marL="457200" indent="0">
              <a:buFontTx/>
              <a:buNone/>
              <a:defRPr sz="1600">
                <a:latin typeface="+mn-ea"/>
                <a:ea typeface="+mn-ea"/>
              </a:defRPr>
            </a:lvl2pPr>
            <a:lvl3pPr marL="914400" indent="0">
              <a:buFontTx/>
              <a:buNone/>
              <a:defRPr sz="1600">
                <a:latin typeface="+mn-ea"/>
                <a:ea typeface="+mn-ea"/>
              </a:defRPr>
            </a:lvl3pPr>
            <a:lvl4pPr marL="1371600" indent="0">
              <a:buFontTx/>
              <a:buNone/>
              <a:defRPr sz="1600">
                <a:latin typeface="+mn-ea"/>
                <a:ea typeface="+mn-ea"/>
              </a:defRPr>
            </a:lvl4pPr>
            <a:lvl5pPr marL="1828800" indent="0">
              <a:buFontTx/>
              <a:buNone/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kumimoji="1" lang="ja-JP" altLang="en-US"/>
              <a:t>コンテンツを挿入（テキスト、グラフ、図など）</a:t>
            </a:r>
            <a:r>
              <a:rPr kumimoji="1" lang="en-US" altLang="ja-JP"/>
              <a:t>/ Contents area (Text, Chart, Image) </a:t>
            </a:r>
            <a:endParaRPr kumimoji="1" lang="ja-JP" altLang="en-US"/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E462BAFC-C166-466D-BCD4-0A812FBFE0AA}"/>
              </a:ext>
            </a:extLst>
          </p:cNvPr>
          <p:cNvCxnSpPr>
            <a:cxnSpLocks/>
          </p:cNvCxnSpPr>
          <p:nvPr userDrawn="1"/>
        </p:nvCxnSpPr>
        <p:spPr>
          <a:xfrm>
            <a:off x="321276" y="6264972"/>
            <a:ext cx="11549449" cy="0"/>
          </a:xfrm>
          <a:prstGeom prst="line">
            <a:avLst/>
          </a:prstGeom>
          <a:ln w="12700">
            <a:solidFill>
              <a:srgbClr val="B2B2B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59709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Fin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A9FF1E53-0F36-4477-A813-49E627229CD4}"/>
              </a:ext>
            </a:extLst>
          </p:cNvPr>
          <p:cNvSpPr/>
          <p:nvPr userDrawn="1"/>
        </p:nvSpPr>
        <p:spPr>
          <a:xfrm>
            <a:off x="-1" y="0"/>
            <a:ext cx="592310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 descr="モニター画面に映る文字&#10;&#10;自動的に生成された説明">
            <a:extLst>
              <a:ext uri="{FF2B5EF4-FFF2-40B4-BE49-F238E27FC236}">
                <a16:creationId xmlns:a16="http://schemas.microsoft.com/office/drawing/2014/main" id="{BE7BC897-37ED-43ED-9DD4-52EE07FB6E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23109" y="1758333"/>
            <a:ext cx="2326656" cy="3314089"/>
          </a:xfrm>
          <a:prstGeom prst="rect">
            <a:avLst/>
          </a:prstGeom>
        </p:spPr>
      </p:pic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249F56A-214A-4DA4-8FB7-D71B442F3C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3001740-FA51-4383-A84C-3DA006D12C29}" type="slidenum">
              <a:rPr lang="ja-JP" altLang="en-US" smtClean="0"/>
              <a:pPr/>
              <a:t>‹#›</a:t>
            </a:fld>
            <a:endParaRPr lang="ja-JP" altLang="en-US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C1E429A5-622A-4AC9-8F75-D0628B521C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2645" y="3932503"/>
            <a:ext cx="5103754" cy="369332"/>
          </a:xfrm>
        </p:spPr>
        <p:txBody>
          <a:bodyPr>
            <a:normAutofit/>
          </a:bodyPr>
          <a:lstStyle>
            <a:lvl1pPr marL="0" indent="0">
              <a:buNone/>
              <a:defRPr sz="2000" b="1"/>
            </a:lvl1pPr>
          </a:lstStyle>
          <a:p>
            <a:pPr lvl="0"/>
            <a:r>
              <a:rPr kumimoji="1" lang="en-US" altLang="ja-JP"/>
              <a:t>Ending comment</a:t>
            </a:r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320F9AC-8C1A-4A31-82F6-40F400435A2A}"/>
              </a:ext>
            </a:extLst>
          </p:cNvPr>
          <p:cNvSpPr/>
          <p:nvPr userDrawn="1"/>
        </p:nvSpPr>
        <p:spPr>
          <a:xfrm>
            <a:off x="295928" y="6356350"/>
            <a:ext cx="51904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altLang="ja-JP" sz="800">
                <a:solidFill>
                  <a:schemeClr val="bg1">
                    <a:lumMod val="50000"/>
                  </a:schemeClr>
                </a:solidFill>
              </a:rPr>
              <a:t>The names of corporations, organizations, products and logos herein are either registered trademarks or trademarks of Yokogawa Electric Corporation and their respective holders.</a:t>
            </a:r>
            <a:endParaRPr lang="ja-JP" altLang="en-US" sz="8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8" name="図 7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356EF9D2-6A59-4CEA-8286-7885D4590D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102" y="410845"/>
            <a:ext cx="2152996" cy="377496"/>
          </a:xfrm>
          <a:prstGeom prst="rect">
            <a:avLst/>
          </a:prstGeom>
        </p:spPr>
      </p:pic>
      <p:pic>
        <p:nvPicPr>
          <p:cNvPr id="4" name="図 3" descr="ロゴ&#10;&#10;自動的に生成された説明">
            <a:extLst>
              <a:ext uri="{FF2B5EF4-FFF2-40B4-BE49-F238E27FC236}">
                <a16:creationId xmlns:a16="http://schemas.microsoft.com/office/drawing/2014/main" id="{8F20482E-FD0D-4CED-99BC-09CDD9A1527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89" y="3057175"/>
            <a:ext cx="5156095" cy="71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5205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1776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FB7851-61D2-B205-A67E-79CCCD35D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D42F7-D031-21F1-0B2C-D4F3218C7F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BDF540-AAF4-D9AC-3411-24229B9AE7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B7F01A-165A-439D-A9A5-A01BF7D529F6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6BA44E-8083-0C6C-5780-4AD7C691F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995FC-A9A0-545A-2AA8-AA98479FD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5F54AF-2578-4006-BC40-F2AE4C6EF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22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GLIM Map Building</a:t>
            </a:r>
            <a:br/>
            <a:r>
              <a:t>Automation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Abdullah AlMusalami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Senior Robotics Engineer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May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GLIM Map Building Automation System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3-Phase System Architecture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/>
        </p:txBody>
      </p:sp>
      <p:pic>
        <p:nvPicPr>
          <p:cNvPr id="5" name="Picture 4" descr="GLIM_Map_Building_Automation_System_MINIM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2185416"/>
            <a:ext cx="11146536" cy="525424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 ·  Docker Environment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 ·  Docker Environment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Environment Setup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quarter"/>
          </p:nvPr>
        </p:nvSpPr>
        <p:spPr/>
        <p:txBody>
          <a:bodyPr wrap="square"/>
          <a:lstStyle/>
          <a:p>
            <a:pPr/>
            <a:r>
              <a:t>Base image: nvidia/cuda:13.2 + Ubuntu 22.04</a:t>
            </a:r>
          </a:p>
          <a:p>
            <a:pPr/>
            <a:r>
              <a:t>ROS2 Jazzy Desktop</a:t>
            </a:r>
          </a:p>
          <a:p>
            <a:pPr/>
            <a:r>
              <a:t>GLIM — GPU-accelerated 3D SLAM (koide3 PPA)</a:t>
            </a:r>
          </a:p>
          <a:p>
            <a:pPr/>
            <a:r>
              <a:t>All dependencies pre-installed: GTSAM 4.3, Iridescence, GLFW, METIS</a:t>
            </a:r>
          </a:p>
          <a:p>
            <a:pPr/>
            <a:r>
              <a:t>GTSAM version conflict resolved inside the container — zero manual steps</a:t>
            </a:r>
          </a:p>
          <a:p>
            <a:pPr/>
            <a:r>
              <a:t>ROS2 bag files mounted at runtime  ( -v /path/to/bags:/bags )</a:t>
            </a:r>
          </a:p>
          <a:p>
            <a:pPr/>
            <a:r>
              <a:t>GPU passthrough:  --gpus all  (requires nvidia-container-toolkit)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 ·  Interactive CLI Wizard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 ·  Interactive CLI Wizard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Full Pipeline:    ros2 run slam_glim main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/>
        </p:txBody>
      </p:sp>
      <p:pic>
        <p:nvPicPr>
          <p:cNvPr id="5" name="Picture 4" descr="GLIM_Map_Building_Automation_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547" y="2185416"/>
            <a:ext cx="1667858" cy="378561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 ·  CLI Wizard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Step 1: Bag Preparation    +    Step 1.5: Sensor Configuration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quarter"/>
          </p:nvPr>
        </p:nvSpPr>
        <p:spPr/>
        <p:txBody>
          <a:bodyPr wrap="square"/>
          <a:lstStyle/>
          <a:p>
            <a:pPr/>
            <a:r>
              <a:t>Step 1  —  Bag Preparation:</a:t>
            </a:r>
          </a:p>
          <a:p>
            <a:pPr lvl="1"/>
            <a:r>
              <a:t>User provides the bag file path</a:t>
            </a:r>
          </a:p>
          <a:p>
            <a:pPr lvl="1"/>
            <a:r>
              <a:t>ROS1 .bag?  →  auto-convert to ROS2 .db3 (rosbags-convert)</a:t>
            </a:r>
          </a:p>
          <a:p>
            <a:pPr/>
            <a:r>
              <a:t>Step 1.5  —  Sensor Configuration:</a:t>
            </a:r>
          </a:p>
          <a:p>
            <a:pPr lvl="1"/>
            <a:r>
              <a:t>User edits ONE YAML file:   config/user_config.yaml</a:t>
            </a:r>
          </a:p>
          <a:p>
            <a:pPr lvl="1"/>
            <a:r>
              <a:t>Only 3 fields required:</a:t>
            </a:r>
          </a:p>
          <a:p>
            <a:pPr lvl="2"/>
            <a:r>
              <a:t>imu_topic:    /imu/gravity</a:t>
            </a:r>
          </a:p>
          <a:p>
            <a:pPr lvl="2"/>
            <a:r>
              <a:t>lidar_topic:  /velodyne_points</a:t>
            </a:r>
          </a:p>
          <a:p>
            <a:pPr lvl="2"/>
            <a:r>
              <a:t>T_lidar_imu:  [tx, ty, tz, qx, qy, qz, qw]</a:t>
            </a:r>
          </a:p>
          <a:p>
            <a:pPr lvl="1"/>
            <a:r>
              <a:t>System auto-fills all 6 GLIM JSON config files — user never edits JSON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 ·  CLI Wizard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Step 2: Sensor Validation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quarter"/>
          </p:nvPr>
        </p:nvSpPr>
        <p:spPr/>
        <p:txBody>
          <a:bodyPr wrap="square"/>
          <a:lstStyle/>
          <a:p>
            <a:pPr/>
            <a:r>
              <a:t>Runs GLIM's built-in validator_node against the bag</a:t>
            </a:r>
          </a:p>
          <a:p>
            <a:pPr lvl="1"/>
            <a:r>
              <a:t>Checks: IMU rate, LiDAR rate, topic existence, gravity vector detection</a:t>
            </a:r>
          </a:p>
          <a:p>
            <a:pPr/>
            <a:r>
              <a:t>Prints a human-readable report to the terminal</a:t>
            </a:r>
          </a:p>
          <a:p>
            <a:pPr/>
            <a:r>
              <a:t>Human reviews the report  →  fix config/user_config.yaml if needed</a:t>
            </a:r>
          </a:p>
          <a:p>
            <a:pPr/>
            <a:r>
              <a:t>Catches misconfigured topics before wasting a full SLAM run</a:t>
            </a:r>
          </a:p>
          <a:p>
            <a:pPr/>
            <a:r>
              <a:t>Press Enter when satisfied to proceed to SLAM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 ·  CLI Wizard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Steps 3–4: GLIM SLAM Execution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quarter"/>
          </p:nvPr>
        </p:nvSpPr>
        <p:spPr/>
        <p:txBody>
          <a:bodyPr wrap="square"/>
          <a:lstStyle/>
          <a:p>
            <a:pPr/>
            <a:r>
              <a:t>Pipeline selection  (asked every run):</a:t>
            </a:r>
          </a:p>
          <a:p>
            <a:pPr lvl="1"/>
            <a:r>
              <a:t>[1] GPU         —  VGICP_GPU + CUDA   (default, RMC robot)</a:t>
            </a:r>
          </a:p>
          <a:p>
            <a:pPr lvl="1"/>
            <a:r>
              <a:t>[2] CPU         —  VGICP CPU, no GPU required</a:t>
            </a:r>
          </a:p>
          <a:p>
            <a:pPr lvl="1"/>
            <a:r>
              <a:t>[3] LiDAR-only  —  CT-ICP, no IMU required</a:t>
            </a:r>
          </a:p>
          <a:p>
            <a:pPr/>
            <a:r>
              <a:t>Config review: shows IMU topic, LiDAR topic, T_lidar_imu — confirm before SLAM starts</a:t>
            </a:r>
          </a:p>
          <a:p>
            <a:pPr/>
            <a:r>
              <a:t>Mode selection:</a:t>
            </a:r>
          </a:p>
          <a:p>
            <a:pPr lvl="1"/>
            <a:r>
              <a:t>[1] Live Viewer   —  glim_rosnode + ros2 bag play + Iridescence 3D viewer</a:t>
            </a:r>
          </a:p>
          <a:p>
            <a:pPr lvl="1"/>
            <a:r>
              <a:t>[2] Fast Offline  —  glim_rosbag, no viewer, faster than real-time</a:t>
            </a:r>
          </a:p>
          <a:p>
            <a:pPr/>
            <a:r>
              <a:t>Dump auto-saved  →  maps/&lt;bag_name&gt;_&lt;YYYYMMDD_HHMMSS&gt;/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 ·  CLI Wizard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Steps 5–6: Map Refinement &amp; Merging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quarter"/>
          </p:nvPr>
        </p:nvSpPr>
        <p:spPr/>
        <p:txBody>
          <a:bodyPr wrap="square"/>
          <a:lstStyle/>
          <a:p>
            <a:pPr/>
            <a:r>
              <a:t>Step 5  —  Edit / Modify Map:</a:t>
            </a:r>
          </a:p>
          <a:p>
            <a:pPr lvl="1"/>
            <a:r>
              <a:t>Opens GLIM map_editor GUI with the current dump</a:t>
            </a:r>
          </a:p>
          <a:p>
            <a:pPr lvl="1"/>
            <a:r>
              <a:t>Add or remove loop closures, re-optimize the pose graph</a:t>
            </a:r>
          </a:p>
          <a:p>
            <a:pPr lvl="1"/>
            <a:r>
              <a:t>Loop: edit more?  →  repeat until satisfied</a:t>
            </a:r>
          </a:p>
          <a:p>
            <a:pPr/>
            <a:r>
              <a:t>Step 6  —  Merge Maps:</a:t>
            </a:r>
          </a:p>
          <a:p>
            <a:pPr lvl="1"/>
            <a:r>
              <a:t>User provides a second dump directory</a:t>
            </a:r>
          </a:p>
          <a:p>
            <a:pPr lvl="1"/>
            <a:r>
              <a:t>map_editor loads both dumps  →  user aligns and merges in the GUI</a:t>
            </a:r>
          </a:p>
          <a:p>
            <a:pPr lvl="1"/>
            <a:r>
              <a:t>Merged dump path saved for the export step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 ·  CLI Wizard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Steps 7–8: Map Export &amp; 2D Map Generation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quarter"/>
          </p:nvPr>
        </p:nvSpPr>
        <p:spPr/>
        <p:txBody>
          <a:bodyPr wrap="square"/>
          <a:lstStyle/>
          <a:p>
            <a:pPr/>
            <a:r>
              <a:t>Step 7  —  Export Map  (fully automated, no GUI):</a:t>
            </a:r>
          </a:p>
          <a:p>
            <a:pPr lvl="1"/>
            <a:r>
              <a:t>Reads dump binary: points_compact.bin (float32 XYZ) + data.txt (T_world_origin)</a:t>
            </a:r>
          </a:p>
          <a:p>
            <a:pPr lvl="1"/>
            <a:r>
              <a:t>Transforms all submaps to world frame  →  voxel filter 0.05 m</a:t>
            </a:r>
          </a:p>
          <a:p>
            <a:pPr lvl="1"/>
            <a:r>
              <a:t>Writes ASCII PCD v0.7  →  maps/&lt;run&gt;/map.pcd</a:t>
            </a:r>
          </a:p>
          <a:p>
            <a:pPr lvl="1"/>
            <a:r>
              <a:t>No PLY step — dump binary is parsed directly in Python</a:t>
            </a:r>
          </a:p>
          <a:p>
            <a:pPr/>
            <a:r>
              <a:t>Step 8  —  2D Occupancy Map:</a:t>
            </a:r>
          </a:p>
          <a:p>
            <a:pPr lvl="1"/>
            <a:r>
              <a:t>Ground detection: z-histogram from 1st percentile, find floor peak</a:t>
            </a:r>
          </a:p>
          <a:p>
            <a:pPr lvl="1"/>
            <a:r>
              <a:t>Height filter: floor+0.3 m  to  floor+3.0 m</a:t>
            </a:r>
          </a:p>
          <a:p>
            <a:pPr lvl="1"/>
            <a:r>
              <a:t>Output: map_2d.pgm + map_2d.yaml  (nav2_map_server compatible)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  ·  CLI Wizard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Step 9: POI Registration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quarter"/>
          </p:nvPr>
        </p:nvSpPr>
        <p:spPr/>
        <p:txBody>
          <a:bodyPr wrap="square"/>
          <a:lstStyle/>
          <a:p>
            <a:pPr/>
            <a:r>
              <a:t>RViz2 opens automatically with the 3D PCD map displayed</a:t>
            </a:r>
          </a:p>
          <a:p>
            <a:pPr/>
            <a:r>
              <a:t>Select the Publish Point tool in the RViz2 toolbar (crosshair icon)</a:t>
            </a:r>
          </a:p>
          <a:p>
            <a:pPr/>
            <a:r>
              <a:t>Click any point on the 3D cloud</a:t>
            </a:r>
          </a:p>
          <a:p>
            <a:pPr/>
            <a:r>
              <a:t>Red sphere + text label appear at the clicked location</a:t>
            </a:r>
          </a:p>
          <a:p>
            <a:pPr/>
            <a:r>
              <a:t>POI saved automatically to YAML in  maps/&lt;run&gt;/POI_Poses/</a:t>
            </a:r>
          </a:p>
          <a:p>
            <a:pPr/>
            <a:r>
              <a:t>YAML format:</a:t>
            </a:r>
          </a:p>
          <a:p>
            <a:pPr lvl="1"/>
            <a:r>
              <a:t>pois: [ { id, name, timestamp, frame_id, position, orientation } ]</a:t>
            </a:r>
          </a:p>
          <a:p>
            <a:pPr lvl="1"/>
            <a:r>
              <a:t>orientation: identity quaternion — compatible with ROS2 nav goals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 ·  Web Dashboard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  ·  Web Dashboard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Browser-Based Interface  (Coming Soon)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quarter"/>
          </p:nvPr>
        </p:nvSpPr>
        <p:spPr/>
        <p:txBody>
          <a:bodyPr wrap="square"/>
          <a:lstStyle/>
          <a:p>
            <a:pPr/>
            <a:r>
              <a:t>Replaces CLI wizard with a web page — same pipeline, zero terminal interaction</a:t>
            </a:r>
          </a:p>
          <a:p>
            <a:pPr/>
            <a:r>
              <a:t>3D map viewer in the browser  (Three.js / Potree)</a:t>
            </a:r>
          </a:p>
          <a:p>
            <a:pPr/>
            <a:r>
              <a:t>POI editor: click-to-place on the 3D map in the browser</a:t>
            </a:r>
          </a:p>
          <a:p>
            <a:pPr/>
            <a:r>
              <a:t>Live robot tracking: WebSocket stream of robot pose overlaid on the global map</a:t>
            </a:r>
          </a:p>
          <a:p>
            <a:pPr/>
            <a:r>
              <a:t>Map library: browse all saved map runs with metadata and thumbnails</a:t>
            </a:r>
          </a:p>
          <a:p>
            <a:pPr/>
            <a:r>
              <a:t>OEM export: download PCD + 2D map + POI YAML for distribution</a:t>
            </a:r>
          </a:p>
          <a:p>
            <a:pPr/>
            <a:r>
              <a:t>Architecture:</a:t>
            </a:r>
          </a:p>
          <a:p>
            <a:pPr lvl="1"/>
            <a:r>
              <a:t>Flask / FastAPI backend  →  calls the same step modules as the CLI</a:t>
            </a:r>
          </a:p>
          <a:p>
            <a:pPr lvl="1"/>
            <a:r>
              <a:t>Design constraint: all step modules accept decisions as parameters (no input())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Plan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Phase 2 — Implementation Order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quarter"/>
          </p:nvPr>
        </p:nvSpPr>
        <p:spPr/>
        <p:txBody>
          <a:bodyPr wrap="square"/>
          <a:lstStyle/>
          <a:p>
            <a:pPr/>
            <a:r>
              <a:t>1.   export_map.py           —  Binary dump → PCD  (core unique logic, first)</a:t>
            </a:r>
          </a:p>
          <a:p>
            <a:pPr/>
            <a:r>
              <a:t>2.   convert_map.py          —  PCD → 2D occupancy grid</a:t>
            </a:r>
          </a:p>
          <a:p>
            <a:pPr/>
            <a:r>
              <a:t>3.   pcd_publisher.py  +  poi_selector.py   (copy + adapt from glim_test)</a:t>
            </a:r>
          </a:p>
          <a:p>
            <a:pPr/>
            <a:r>
              <a:t>4.   view_map.launch.py  +  view_map.rviz</a:t>
            </a:r>
          </a:p>
          <a:p>
            <a:pPr/>
            <a:r>
              <a:t>5.   config_setup.py         —  user_config.yaml → GLIM JSON files</a:t>
            </a:r>
          </a:p>
          <a:p>
            <a:pPr/>
            <a:r>
              <a:t>6.   slam_runner.py          —  GLIM launch: pipeline select + two modes</a:t>
            </a:r>
          </a:p>
          <a:p>
            <a:pPr/>
            <a:r>
              <a:t>7.   validator.py            —  Sensor validation subprocess + report</a:t>
            </a:r>
          </a:p>
          <a:p>
            <a:pPr/>
            <a:r>
              <a:t>8.   bag_convert.py          —  ROS1 bag conversion wrapper</a:t>
            </a:r>
          </a:p>
          <a:p>
            <a:pPr/>
            <a:r>
              <a:t>9.   map_editor_launcher.py  —  Map editing / merging subprocess</a:t>
            </a:r>
          </a:p>
          <a:p>
            <a:pPr/>
            <a:r>
              <a:t>10.  main.py                 —  CLI wizard orchestrator (wires all steps)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db29ff9-328f-40bc-bdc5-3c7b0421d507}" enabled="1" method="Standard" siteId="{0da2a83b-13d9-4a35-965f-ec53a220ed9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1408</Words>
  <Application>Microsoft Office PowerPoint</Application>
  <PresentationFormat>Widescreen</PresentationFormat>
  <Paragraphs>262</Paragraphs>
  <Slides>30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Calibri</vt:lpstr>
      <vt:lpstr>Office Theme</vt:lpstr>
      <vt:lpstr>PowerPoint Presentation</vt:lpstr>
      <vt:lpstr>RMC2.0 - Weekly update meeting</vt:lpstr>
      <vt:lpstr>My Tasks:</vt:lpstr>
      <vt:lpstr>Final SLAM Algorithms Assessment</vt:lpstr>
      <vt:lpstr>Final SLAM Algorithms Assessment</vt:lpstr>
      <vt:lpstr>SLAM Algorithm Assessment:</vt:lpstr>
      <vt:lpstr>      GLIM SLAM – Full Testing Phase.</vt:lpstr>
      <vt:lpstr> SLAM System Architecture – Testing Phase</vt:lpstr>
      <vt:lpstr> SLAM System Architecture – Testing Phase</vt:lpstr>
      <vt:lpstr> SLAM System Architecture – Testing Phase</vt:lpstr>
      <vt:lpstr> SLAM System Architecture – Testing Phase</vt:lpstr>
      <vt:lpstr> SLAM System Architecture – Testing Phase</vt:lpstr>
      <vt:lpstr> SLAM System Architecture – Testing Phase</vt:lpstr>
      <vt:lpstr> SLAM System Architecture – Testing Phase</vt:lpstr>
      <vt:lpstr> SLAM System Architecture – Testing Phase</vt:lpstr>
      <vt:lpstr> SLAM System Architecture – Testing Phase</vt:lpstr>
      <vt:lpstr>GLIM SLAM System Architecture</vt:lpstr>
      <vt:lpstr>GLIM SLAM System Architecture</vt:lpstr>
      <vt:lpstr>GLIM SLAM System Architecture</vt:lpstr>
      <vt:lpstr>GLIM SLAM System Architecture</vt:lpstr>
      <vt:lpstr>GLIM SLAM System Architecture</vt:lpstr>
      <vt:lpstr>GLIM SLAM System Architecture</vt:lpstr>
      <vt:lpstr>GLIM SLAM System Architecture</vt:lpstr>
      <vt:lpstr>GLIM SLAM System Architecture</vt:lpstr>
      <vt:lpstr>SLAM System Architecture</vt:lpstr>
      <vt:lpstr>SLAM System Architecture</vt:lpstr>
      <vt:lpstr>SLAM System Architecture – Deploying Phase </vt:lpstr>
      <vt:lpstr> SLAM System Architecture – Deploying Phase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Almusalami, Abdullah (Abdullah.Almusalami@yokogawa.com)</dc:creator>
  <cp:lastModifiedBy>Almusalami, Abdullah (Abdullah.Almusalami@yokogawa.com)</cp:lastModifiedBy>
  <cp:revision>1</cp:revision>
  <dcterms:created xsi:type="dcterms:W3CDTF">2026-05-14T21:59:24Z</dcterms:created>
  <dcterms:modified xsi:type="dcterms:W3CDTF">2026-05-14T22:01:20Z</dcterms:modified>
</cp:coreProperties>
</file>